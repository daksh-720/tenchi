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7.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58" r:id="rId5"/>
    <p:sldId id="259" r:id="rId6"/>
    <p:sldId id="261" r:id="rId7"/>
    <p:sldId id="262" r:id="rId8"/>
    <p:sldId id="263" r:id="rId9"/>
    <p:sldId id="267" r:id="rId10"/>
    <p:sldId id="264" r:id="rId11"/>
    <p:sldId id="265" r:id="rId12"/>
    <p:sldId id="266" r:id="rId13"/>
    <p:sldId id="272" r:id="rId14"/>
    <p:sldId id="268" r:id="rId15"/>
    <p:sldId id="269" r:id="rId16"/>
    <p:sldId id="270" r:id="rId17"/>
    <p:sldId id="271"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BDDBA60-6A92-4D73-9685-04D5EE69A490}"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0855F6-2EDE-494F-9ED6-27BB9410B2A2}" type="slidenum">
              <a:rPr lang="en-IN" smtClean="0"/>
              <a:t>‹#›</a:t>
            </a:fld>
            <a:endParaRPr lang="en-IN"/>
          </a:p>
        </p:txBody>
      </p:sp>
    </p:spTree>
    <p:extLst>
      <p:ext uri="{BB962C8B-B14F-4D97-AF65-F5344CB8AC3E}">
        <p14:creationId xmlns:p14="http://schemas.microsoft.com/office/powerpoint/2010/main" val="2064607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BDDBA60-6A92-4D73-9685-04D5EE69A490}"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0855F6-2EDE-494F-9ED6-27BB9410B2A2}" type="slidenum">
              <a:rPr lang="en-IN" smtClean="0"/>
              <a:t>‹#›</a:t>
            </a:fld>
            <a:endParaRPr lang="en-IN"/>
          </a:p>
        </p:txBody>
      </p:sp>
    </p:spTree>
    <p:extLst>
      <p:ext uri="{BB962C8B-B14F-4D97-AF65-F5344CB8AC3E}">
        <p14:creationId xmlns:p14="http://schemas.microsoft.com/office/powerpoint/2010/main" val="3395816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BDDBA60-6A92-4D73-9685-04D5EE69A490}"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0855F6-2EDE-494F-9ED6-27BB9410B2A2}" type="slidenum">
              <a:rPr lang="en-IN" smtClean="0"/>
              <a:t>‹#›</a:t>
            </a:fld>
            <a:endParaRPr lang="en-IN"/>
          </a:p>
        </p:txBody>
      </p:sp>
    </p:spTree>
    <p:extLst>
      <p:ext uri="{BB962C8B-B14F-4D97-AF65-F5344CB8AC3E}">
        <p14:creationId xmlns:p14="http://schemas.microsoft.com/office/powerpoint/2010/main" val="3278975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BDDBA60-6A92-4D73-9685-04D5EE69A490}"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0855F6-2EDE-494F-9ED6-27BB9410B2A2}" type="slidenum">
              <a:rPr lang="en-IN" smtClean="0"/>
              <a:t>‹#›</a:t>
            </a:fld>
            <a:endParaRPr lang="en-IN"/>
          </a:p>
        </p:txBody>
      </p:sp>
    </p:spTree>
    <p:extLst>
      <p:ext uri="{BB962C8B-B14F-4D97-AF65-F5344CB8AC3E}">
        <p14:creationId xmlns:p14="http://schemas.microsoft.com/office/powerpoint/2010/main" val="4169506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BDDBA60-6A92-4D73-9685-04D5EE69A490}" type="datetimeFigureOut">
              <a:rPr lang="en-IN" smtClean="0"/>
              <a:t>03-08-2026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0855F6-2EDE-494F-9ED6-27BB9410B2A2}" type="slidenum">
              <a:rPr lang="en-IN" smtClean="0"/>
              <a:t>‹#›</a:t>
            </a:fld>
            <a:endParaRPr lang="en-IN"/>
          </a:p>
        </p:txBody>
      </p:sp>
    </p:spTree>
    <p:extLst>
      <p:ext uri="{BB962C8B-B14F-4D97-AF65-F5344CB8AC3E}">
        <p14:creationId xmlns:p14="http://schemas.microsoft.com/office/powerpoint/2010/main" val="927086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BDDBA60-6A92-4D73-9685-04D5EE69A490}" type="datetimeFigureOut">
              <a:rPr lang="en-IN" smtClean="0"/>
              <a:t>03-08-2026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0855F6-2EDE-494F-9ED6-27BB9410B2A2}" type="slidenum">
              <a:rPr lang="en-IN" smtClean="0"/>
              <a:t>‹#›</a:t>
            </a:fld>
            <a:endParaRPr lang="en-IN"/>
          </a:p>
        </p:txBody>
      </p:sp>
    </p:spTree>
    <p:extLst>
      <p:ext uri="{BB962C8B-B14F-4D97-AF65-F5344CB8AC3E}">
        <p14:creationId xmlns:p14="http://schemas.microsoft.com/office/powerpoint/2010/main" val="1105178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DDBA60-6A92-4D73-9685-04D5EE69A490}" type="datetimeFigureOut">
              <a:rPr lang="en-IN" smtClean="0"/>
              <a:t>03-08-2026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0855F6-2EDE-494F-9ED6-27BB9410B2A2}" type="slidenum">
              <a:rPr lang="en-IN" smtClean="0"/>
              <a:t>‹#›</a:t>
            </a:fld>
            <a:endParaRPr lang="en-IN"/>
          </a:p>
        </p:txBody>
      </p:sp>
    </p:spTree>
    <p:extLst>
      <p:ext uri="{BB962C8B-B14F-4D97-AF65-F5344CB8AC3E}">
        <p14:creationId xmlns:p14="http://schemas.microsoft.com/office/powerpoint/2010/main" val="2012367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BDDBA60-6A92-4D73-9685-04D5EE69A490}"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0855F6-2EDE-494F-9ED6-27BB9410B2A2}" type="slidenum">
              <a:rPr lang="en-IN" smtClean="0"/>
              <a:t>‹#›</a:t>
            </a:fld>
            <a:endParaRPr lang="en-IN"/>
          </a:p>
        </p:txBody>
      </p:sp>
    </p:spTree>
    <p:extLst>
      <p:ext uri="{BB962C8B-B14F-4D97-AF65-F5344CB8AC3E}">
        <p14:creationId xmlns:p14="http://schemas.microsoft.com/office/powerpoint/2010/main" val="824010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BDDBA60-6A92-4D73-9685-04D5EE69A490}"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0855F6-2EDE-494F-9ED6-27BB9410B2A2}" type="slidenum">
              <a:rPr lang="en-IN" smtClean="0"/>
              <a:t>‹#›</a:t>
            </a:fld>
            <a:endParaRPr lang="en-IN"/>
          </a:p>
        </p:txBody>
      </p:sp>
    </p:spTree>
    <p:extLst>
      <p:ext uri="{BB962C8B-B14F-4D97-AF65-F5344CB8AC3E}">
        <p14:creationId xmlns:p14="http://schemas.microsoft.com/office/powerpoint/2010/main" val="3871522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BDDBA60-6A92-4D73-9685-04D5EE69A490}"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0855F6-2EDE-494F-9ED6-27BB9410B2A2}" type="slidenum">
              <a:rPr lang="en-IN" smtClean="0"/>
              <a:t>‹#›</a:t>
            </a:fld>
            <a:endParaRPr lang="en-IN"/>
          </a:p>
        </p:txBody>
      </p:sp>
    </p:spTree>
    <p:extLst>
      <p:ext uri="{BB962C8B-B14F-4D97-AF65-F5344CB8AC3E}">
        <p14:creationId xmlns:p14="http://schemas.microsoft.com/office/powerpoint/2010/main" val="2705480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BDDBA60-6A92-4D73-9685-04D5EE69A490}"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0855F6-2EDE-494F-9ED6-27BB9410B2A2}" type="slidenum">
              <a:rPr lang="en-IN" smtClean="0"/>
              <a:t>‹#›</a:t>
            </a:fld>
            <a:endParaRPr lang="en-IN"/>
          </a:p>
        </p:txBody>
      </p:sp>
    </p:spTree>
    <p:extLst>
      <p:ext uri="{BB962C8B-B14F-4D97-AF65-F5344CB8AC3E}">
        <p14:creationId xmlns:p14="http://schemas.microsoft.com/office/powerpoint/2010/main" val="1317261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DDBA60-6A92-4D73-9685-04D5EE69A490}" type="datetimeFigureOut">
              <a:rPr lang="en-IN" smtClean="0"/>
              <a:t>03-08-2026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0855F6-2EDE-494F-9ED6-27BB9410B2A2}" type="slidenum">
              <a:rPr lang="en-IN" smtClean="0"/>
              <a:t>‹#›</a:t>
            </a:fld>
            <a:endParaRPr lang="en-IN"/>
          </a:p>
        </p:txBody>
      </p:sp>
    </p:spTree>
    <p:extLst>
      <p:ext uri="{BB962C8B-B14F-4D97-AF65-F5344CB8AC3E}">
        <p14:creationId xmlns:p14="http://schemas.microsoft.com/office/powerpoint/2010/main" val="952143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dirty="0" err="1"/>
              <a:t>Exp</a:t>
            </a:r>
            <a:r>
              <a:rPr lang="en-IN" dirty="0"/>
              <a:t> </a:t>
            </a:r>
            <a:r>
              <a:rPr lang="en-IN" dirty="0" smtClean="0"/>
              <a:t>6 </a:t>
            </a:r>
            <a:br>
              <a:rPr lang="en-IN" dirty="0" smtClean="0"/>
            </a:br>
            <a:endParaRPr lang="en-IN" dirty="0"/>
          </a:p>
        </p:txBody>
      </p:sp>
      <p:sp>
        <p:nvSpPr>
          <p:cNvPr id="3" name="Subtitle 2"/>
          <p:cNvSpPr>
            <a:spLocks noGrp="1"/>
          </p:cNvSpPr>
          <p:nvPr>
            <p:ph type="subTitle" idx="1"/>
          </p:nvPr>
        </p:nvSpPr>
        <p:spPr/>
        <p:txBody>
          <a:bodyPr/>
          <a:lstStyle/>
          <a:p>
            <a:r>
              <a:rPr lang="en-IN" dirty="0" smtClean="0"/>
              <a:t>Program for Inserting and Deleting an element in circular Queue</a:t>
            </a:r>
            <a:br>
              <a:rPr lang="en-IN" dirty="0" smtClean="0"/>
            </a:br>
            <a:endParaRPr lang="en-IN" dirty="0"/>
          </a:p>
        </p:txBody>
      </p:sp>
    </p:spTree>
    <p:extLst>
      <p:ext uri="{BB962C8B-B14F-4D97-AF65-F5344CB8AC3E}">
        <p14:creationId xmlns:p14="http://schemas.microsoft.com/office/powerpoint/2010/main" val="3884347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00B050"/>
                </a:solidFill>
              </a:rPr>
              <a:t>Theory:</a:t>
            </a:r>
            <a:endParaRPr lang="en-IN" dirty="0">
              <a:solidFill>
                <a:srgbClr val="00B050"/>
              </a:solidFill>
            </a:endParaRP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842769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A Circular Queue is a type of queue data structure where the last position is connected back to the first position, forming a circle.</a:t>
            </a:r>
          </a:p>
          <a:p>
            <a:r>
              <a:rPr lang="en-US" dirty="0" smtClean="0"/>
              <a:t>It is also called a ring buffer and is used to efficiently utilize memory by reusing freed spaces after </a:t>
            </a:r>
            <a:r>
              <a:rPr lang="en-US" dirty="0" err="1" smtClean="0"/>
              <a:t>dequeuing</a:t>
            </a:r>
            <a:r>
              <a:rPr lang="en-US" dirty="0" smtClean="0"/>
              <a:t>.</a:t>
            </a:r>
          </a:p>
          <a:p>
            <a:r>
              <a:rPr lang="en-US" dirty="0" smtClean="0"/>
              <a:t>It follows the FIFO (First In First Out) principle but optimizes space usage compared to a simple queue by reusing freed slots after deletions.</a:t>
            </a:r>
            <a:endParaRPr lang="en-IN" dirty="0"/>
          </a:p>
        </p:txBody>
      </p:sp>
    </p:spTree>
    <p:extLst>
      <p:ext uri="{BB962C8B-B14F-4D97-AF65-F5344CB8AC3E}">
        <p14:creationId xmlns:p14="http://schemas.microsoft.com/office/powerpoint/2010/main" val="1767649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r>
              <a:rPr lang="en-US" dirty="0" smtClean="0"/>
              <a:t>In a fixed-size array queue, once the rear reaches the end, no more insertions are possible even if there’s space at the front.</a:t>
            </a:r>
          </a:p>
          <a:p>
            <a:r>
              <a:rPr lang="en-US" dirty="0" smtClean="0"/>
              <a:t> A circular queue solves this by using </a:t>
            </a:r>
            <a:r>
              <a:rPr lang="en-US" dirty="0" smtClean="0">
                <a:solidFill>
                  <a:srgbClr val="00B050"/>
                </a:solidFill>
              </a:rPr>
              <a:t>modulo arithmetic to wrap around indices</a:t>
            </a:r>
            <a:r>
              <a:rPr lang="en-US" dirty="0" smtClean="0"/>
              <a:t>.</a:t>
            </a:r>
          </a:p>
          <a:p>
            <a:endParaRPr lang="en-US" dirty="0" smtClean="0"/>
          </a:p>
          <a:p>
            <a:r>
              <a:rPr lang="en-US" dirty="0" smtClean="0"/>
              <a:t>Front pointer: Index of the first element.</a:t>
            </a:r>
          </a:p>
          <a:p>
            <a:endParaRPr lang="en-US" dirty="0" smtClean="0"/>
          </a:p>
          <a:p>
            <a:r>
              <a:rPr lang="en-US" dirty="0" smtClean="0"/>
              <a:t>Rear pointer: Index of the last inserted element.</a:t>
            </a:r>
          </a:p>
          <a:p>
            <a:endParaRPr lang="en-US" dirty="0" smtClean="0"/>
          </a:p>
          <a:p>
            <a:r>
              <a:rPr lang="en-US" dirty="0" smtClean="0"/>
              <a:t>Circular movement: </a:t>
            </a:r>
            <a:r>
              <a:rPr lang="en-US" dirty="0" smtClean="0">
                <a:solidFill>
                  <a:srgbClr val="00B050"/>
                </a:solidFill>
              </a:rPr>
              <a:t>(index + 1) % capacity ensures wrap-around.</a:t>
            </a:r>
          </a:p>
          <a:p>
            <a:endParaRPr lang="en-US" dirty="0" smtClean="0"/>
          </a:p>
          <a:p>
            <a:r>
              <a:rPr lang="en-US" dirty="0" smtClean="0"/>
              <a:t>Time complexity: All main operations run in O(1).</a:t>
            </a:r>
            <a:endParaRPr lang="en-IN" dirty="0"/>
          </a:p>
        </p:txBody>
      </p:sp>
    </p:spTree>
    <p:extLst>
      <p:ext uri="{BB962C8B-B14F-4D97-AF65-F5344CB8AC3E}">
        <p14:creationId xmlns:p14="http://schemas.microsoft.com/office/powerpoint/2010/main" val="883966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140579" y="2253920"/>
            <a:ext cx="6742792" cy="1231939"/>
          </a:xfrm>
          <a:prstGeom prst="rect">
            <a:avLst/>
          </a:prstGeom>
        </p:spPr>
      </p:pic>
      <p:sp>
        <p:nvSpPr>
          <p:cNvPr id="5" name="Rectangle 4"/>
          <p:cNvSpPr/>
          <p:nvPr/>
        </p:nvSpPr>
        <p:spPr>
          <a:xfrm>
            <a:off x="775315" y="3658474"/>
            <a:ext cx="9469515" cy="981423"/>
          </a:xfrm>
          <a:prstGeom prst="rect">
            <a:avLst/>
          </a:prstGeom>
        </p:spPr>
        <p:txBody>
          <a:bodyPr wrap="square">
            <a:spAutoFit/>
          </a:bodyPr>
          <a:lstStyle/>
          <a:p>
            <a:pPr>
              <a:lnSpc>
                <a:spcPct val="107000"/>
              </a:lnSpc>
              <a:spcAft>
                <a:spcPts val="800"/>
              </a:spcAft>
            </a:pPr>
            <a:r>
              <a:rPr lang="en-IN" dirty="0">
                <a:latin typeface="Calibri" panose="020F0502020204030204" pitchFamily="34" charset="0"/>
                <a:ea typeface="Calibri" panose="020F0502020204030204" pitchFamily="34" charset="0"/>
                <a:cs typeface="Times New Roman" panose="02020603050405020304" pitchFamily="18" charset="0"/>
              </a:rPr>
              <a:t>Now, if you want to insert another value, it will not be possible because the queue is completely full. There is no empty space where the value can be inserted. Consider a scenario in which two successive deletions are made. The queue will then be given as shown in </a:t>
            </a:r>
            <a:r>
              <a:rPr lang="en-IN" dirty="0" smtClean="0">
                <a:latin typeface="Calibri" panose="020F0502020204030204" pitchFamily="34" charset="0"/>
                <a:ea typeface="Calibri" panose="020F0502020204030204" pitchFamily="34" charset="0"/>
                <a:cs typeface="Times New Roman" panose="02020603050405020304" pitchFamily="18" charset="0"/>
              </a:rPr>
              <a:t>Fig.</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p:cNvPicPr/>
          <p:nvPr/>
        </p:nvPicPr>
        <p:blipFill>
          <a:blip r:embed="rId3"/>
          <a:stretch>
            <a:fillRect/>
          </a:stretch>
        </p:blipFill>
        <p:spPr>
          <a:xfrm>
            <a:off x="1850815" y="4812512"/>
            <a:ext cx="6352151" cy="1117771"/>
          </a:xfrm>
          <a:prstGeom prst="rect">
            <a:avLst/>
          </a:prstGeom>
        </p:spPr>
      </p:pic>
    </p:spTree>
    <p:extLst>
      <p:ext uri="{BB962C8B-B14F-4D97-AF65-F5344CB8AC3E}">
        <p14:creationId xmlns:p14="http://schemas.microsoft.com/office/powerpoint/2010/main" val="2031765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199" y="1825625"/>
            <a:ext cx="7586709" cy="4351338"/>
          </a:xfrm>
        </p:spPr>
        <p:txBody>
          <a:bodyPr>
            <a:normAutofit fontScale="77500" lnSpcReduction="20000"/>
          </a:bodyPr>
          <a:lstStyle/>
          <a:p>
            <a:r>
              <a:rPr lang="en-US" dirty="0" smtClean="0"/>
              <a:t>Suppose we want to insert a new element in the queue shown in Fig Even though there is space available, the overflow condition still exists because the condition rear = MAX – 1 still holds true. </a:t>
            </a:r>
          </a:p>
          <a:p>
            <a:r>
              <a:rPr lang="en-US" dirty="0" smtClean="0"/>
              <a:t>This is a major drawback of a linear queue. </a:t>
            </a:r>
          </a:p>
          <a:p>
            <a:r>
              <a:rPr lang="en-US" dirty="0" smtClean="0"/>
              <a:t>To resolve this problem, we have two solutions. </a:t>
            </a:r>
          </a:p>
          <a:p>
            <a:r>
              <a:rPr lang="en-US" dirty="0" smtClean="0"/>
              <a:t>First, shift the elements to the left so that the vacant space can be occupied and utilized efficiently. </a:t>
            </a:r>
          </a:p>
          <a:p>
            <a:r>
              <a:rPr lang="en-US" dirty="0" smtClean="0"/>
              <a:t>But this can be very time-consuming, especially when the queue is quite large. </a:t>
            </a:r>
          </a:p>
          <a:p>
            <a:r>
              <a:rPr lang="en-US" dirty="0" smtClean="0"/>
              <a:t>The second option is to use a circular queue. </a:t>
            </a:r>
          </a:p>
          <a:p>
            <a:r>
              <a:rPr lang="en-US" dirty="0" smtClean="0"/>
              <a:t>In the circular queue, the first index comes right after the last index. </a:t>
            </a:r>
          </a:p>
          <a:p>
            <a:r>
              <a:rPr lang="en-US" dirty="0" smtClean="0"/>
              <a:t>Conceptually, you can think of a circular queue as shown in Fig. </a:t>
            </a:r>
          </a:p>
          <a:p>
            <a:endParaRPr lang="en-US" dirty="0"/>
          </a:p>
          <a:p>
            <a:endParaRPr lang="en-US" dirty="0" smtClean="0"/>
          </a:p>
        </p:txBody>
      </p:sp>
      <p:pic>
        <p:nvPicPr>
          <p:cNvPr id="5" name="Picture 4"/>
          <p:cNvPicPr>
            <a:picLocks noChangeAspect="1"/>
          </p:cNvPicPr>
          <p:nvPr/>
        </p:nvPicPr>
        <p:blipFill>
          <a:blip r:embed="rId2"/>
          <a:stretch>
            <a:fillRect/>
          </a:stretch>
        </p:blipFill>
        <p:spPr>
          <a:xfrm>
            <a:off x="8183663" y="2218469"/>
            <a:ext cx="2305372" cy="2300265"/>
          </a:xfrm>
          <a:prstGeom prst="rect">
            <a:avLst/>
          </a:prstGeom>
        </p:spPr>
      </p:pic>
    </p:spTree>
    <p:extLst>
      <p:ext uri="{BB962C8B-B14F-4D97-AF65-F5344CB8AC3E}">
        <p14:creationId xmlns:p14="http://schemas.microsoft.com/office/powerpoint/2010/main" val="3621363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dirty="0" smtClean="0"/>
              <a:t>The circular queue will be full only when front = 0 and rear = Max – 1. </a:t>
            </a:r>
          </a:p>
          <a:p>
            <a:r>
              <a:rPr lang="en-US" dirty="0" smtClean="0"/>
              <a:t>A circular queue is implemented in the same manner as a linear queue is implemented. </a:t>
            </a:r>
          </a:p>
          <a:p>
            <a:r>
              <a:rPr lang="en-US" dirty="0" smtClean="0"/>
              <a:t>The only difference will be in the code that performs insertion and deletion operations. </a:t>
            </a:r>
          </a:p>
          <a:p>
            <a:r>
              <a:rPr lang="en-US" dirty="0" smtClean="0"/>
              <a:t>For insertion, we now have to check for the following three conditions: </a:t>
            </a:r>
          </a:p>
          <a:p>
            <a:r>
              <a:rPr lang="en-US" dirty="0" smtClean="0"/>
              <a:t> If front = 0 and rear = MAX – 1, then the circular queue is full. </a:t>
            </a:r>
          </a:p>
        </p:txBody>
      </p:sp>
    </p:spTree>
    <p:extLst>
      <p:ext uri="{BB962C8B-B14F-4D97-AF65-F5344CB8AC3E}">
        <p14:creationId xmlns:p14="http://schemas.microsoft.com/office/powerpoint/2010/main" val="3850905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3064"/>
            <a:ext cx="4781365" cy="5963899"/>
          </a:xfrm>
        </p:spPr>
        <p:txBody>
          <a:bodyPr/>
          <a:lstStyle/>
          <a:p>
            <a:r>
              <a:rPr lang="en-US" dirty="0" smtClean="0"/>
              <a:t>Look at the queue given in </a:t>
            </a:r>
            <a:r>
              <a:rPr lang="en-US" dirty="0" smtClean="0">
                <a:solidFill>
                  <a:srgbClr val="00B050"/>
                </a:solidFill>
              </a:rPr>
              <a:t>Fig. 8.16 </a:t>
            </a:r>
            <a:r>
              <a:rPr lang="en-US" dirty="0" smtClean="0"/>
              <a:t>which illustrates this point.  If rear != MAX – 1, then rear will be incremented and the value will be inserted as illustrated in </a:t>
            </a:r>
            <a:r>
              <a:rPr lang="en-US" dirty="0" smtClean="0">
                <a:solidFill>
                  <a:srgbClr val="00B050"/>
                </a:solidFill>
              </a:rPr>
              <a:t>Fig. 8.17</a:t>
            </a:r>
            <a:r>
              <a:rPr lang="en-US" dirty="0" smtClean="0"/>
              <a:t>. </a:t>
            </a:r>
          </a:p>
          <a:p>
            <a:r>
              <a:rPr lang="en-US" dirty="0" smtClean="0"/>
              <a:t> If front != 0 and rear = MAX – 1, then it means that the queue is not full. So, set rear = 0 and insert the new element there, as shown in </a:t>
            </a:r>
            <a:r>
              <a:rPr lang="en-US" dirty="0" smtClean="0">
                <a:solidFill>
                  <a:srgbClr val="00B050"/>
                </a:solidFill>
              </a:rPr>
              <a:t>Fig. 8.18</a:t>
            </a:r>
          </a:p>
          <a:p>
            <a:endParaRPr lang="en-US" dirty="0" smtClean="0"/>
          </a:p>
          <a:p>
            <a:endParaRPr lang="en-IN" dirty="0"/>
          </a:p>
        </p:txBody>
      </p:sp>
      <p:pic>
        <p:nvPicPr>
          <p:cNvPr id="4" name="Picture 3"/>
          <p:cNvPicPr/>
          <p:nvPr/>
        </p:nvPicPr>
        <p:blipFill>
          <a:blip r:embed="rId2"/>
          <a:stretch>
            <a:fillRect/>
          </a:stretch>
        </p:blipFill>
        <p:spPr>
          <a:xfrm>
            <a:off x="6143349" y="452761"/>
            <a:ext cx="3968318" cy="5486399"/>
          </a:xfrm>
          <a:prstGeom prst="rect">
            <a:avLst/>
          </a:prstGeom>
        </p:spPr>
      </p:pic>
    </p:spTree>
    <p:extLst>
      <p:ext uri="{BB962C8B-B14F-4D97-AF65-F5344CB8AC3E}">
        <p14:creationId xmlns:p14="http://schemas.microsoft.com/office/powerpoint/2010/main" val="3904243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838200" y="1825625"/>
            <a:ext cx="5775664" cy="4351338"/>
          </a:xfrm>
        </p:spPr>
        <p:txBody>
          <a:bodyPr>
            <a:normAutofit fontScale="92500" lnSpcReduction="20000"/>
          </a:bodyPr>
          <a:lstStyle/>
          <a:p>
            <a:r>
              <a:rPr lang="en-US" dirty="0" smtClean="0"/>
              <a:t>Look at Fig. 8.20. If front = –1, then there are no elements in the queue. So, an underflow condition will be reported. </a:t>
            </a:r>
          </a:p>
          <a:p>
            <a:r>
              <a:rPr lang="en-US" dirty="0" smtClean="0"/>
              <a:t> If the queue is not empty and front = rear, then after deleting the element at the front the queue becomes empty and so front and rear are set to –1. </a:t>
            </a:r>
          </a:p>
          <a:p>
            <a:r>
              <a:rPr lang="en-US" dirty="0" smtClean="0"/>
              <a:t>This is illustrated in Fig. 8.21. </a:t>
            </a:r>
          </a:p>
          <a:p>
            <a:r>
              <a:rPr lang="en-US" dirty="0" smtClean="0"/>
              <a:t> If the queue is not empty and front = MAX–1, then after deleting the element at the front, front is set to 0. </a:t>
            </a:r>
          </a:p>
          <a:p>
            <a:r>
              <a:rPr lang="en-US" dirty="0" smtClean="0"/>
              <a:t>This is shown in Fig. 8.22. </a:t>
            </a:r>
            <a:endParaRPr lang="en-IN" dirty="0"/>
          </a:p>
        </p:txBody>
      </p:sp>
      <p:pic>
        <p:nvPicPr>
          <p:cNvPr id="4" name="Picture 3"/>
          <p:cNvPicPr>
            <a:picLocks noChangeAspect="1"/>
          </p:cNvPicPr>
          <p:nvPr/>
        </p:nvPicPr>
        <p:blipFill>
          <a:blip r:embed="rId2"/>
          <a:stretch>
            <a:fillRect/>
          </a:stretch>
        </p:blipFill>
        <p:spPr>
          <a:xfrm>
            <a:off x="6809172" y="1825624"/>
            <a:ext cx="4758431" cy="4149047"/>
          </a:xfrm>
          <a:prstGeom prst="rect">
            <a:avLst/>
          </a:prstGeom>
        </p:spPr>
      </p:pic>
    </p:spTree>
    <p:extLst>
      <p:ext uri="{BB962C8B-B14F-4D97-AF65-F5344CB8AC3E}">
        <p14:creationId xmlns:p14="http://schemas.microsoft.com/office/powerpoint/2010/main" val="506997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00B050"/>
                </a:solidFill>
              </a:rPr>
              <a:t>Procedure:</a:t>
            </a:r>
            <a:endParaRPr lang="en-IN" dirty="0">
              <a:solidFill>
                <a:srgbClr val="00B050"/>
              </a:solidFill>
            </a:endParaRP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3640824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63355" y="1481621"/>
            <a:ext cx="4956716" cy="3978145"/>
          </a:xfrm>
          <a:prstGeom prst="rect">
            <a:avLst/>
          </a:prstGeom>
        </p:spPr>
      </p:pic>
      <p:sp>
        <p:nvSpPr>
          <p:cNvPr id="6" name="Rectangle 5"/>
          <p:cNvSpPr/>
          <p:nvPr/>
        </p:nvSpPr>
        <p:spPr>
          <a:xfrm>
            <a:off x="5610687" y="1481621"/>
            <a:ext cx="5859262" cy="3416320"/>
          </a:xfrm>
          <a:prstGeom prst="rect">
            <a:avLst/>
          </a:prstGeom>
        </p:spPr>
        <p:txBody>
          <a:bodyPr wrap="square">
            <a:spAutoFit/>
          </a:bodyPr>
          <a:lstStyle/>
          <a:p>
            <a:r>
              <a:rPr lang="en-US" dirty="0" smtClean="0"/>
              <a:t>Let us look at Fig. 8.19 which shows the algorithm</a:t>
            </a:r>
          </a:p>
          <a:p>
            <a:r>
              <a:rPr lang="en-US" dirty="0" smtClean="0"/>
              <a:t>to insert an element in a circular queue. </a:t>
            </a:r>
          </a:p>
          <a:p>
            <a:endParaRPr lang="en-US" dirty="0" smtClean="0"/>
          </a:p>
          <a:p>
            <a:r>
              <a:rPr lang="en-US" dirty="0" smtClean="0"/>
              <a:t>In Step 1, we check for the overflow condition. In Step 2, we make two checks. </a:t>
            </a:r>
          </a:p>
          <a:p>
            <a:endParaRPr lang="en-US" dirty="0" smtClean="0"/>
          </a:p>
          <a:p>
            <a:r>
              <a:rPr lang="en-US" dirty="0" smtClean="0"/>
              <a:t>First to see if the queue is empty, and second to see if the REAR end has already reached the maximum capacity while there are certain free locations before the FRONT end. </a:t>
            </a:r>
          </a:p>
          <a:p>
            <a:endParaRPr lang="en-US" dirty="0" smtClean="0"/>
          </a:p>
          <a:p>
            <a:r>
              <a:rPr lang="en-US" dirty="0" smtClean="0"/>
              <a:t>In Step 3, the value is stored in the queue at the location pointed by REAR.</a:t>
            </a:r>
          </a:p>
        </p:txBody>
      </p:sp>
    </p:spTree>
    <p:extLst>
      <p:ext uri="{BB962C8B-B14F-4D97-AF65-F5344CB8AC3E}">
        <p14:creationId xmlns:p14="http://schemas.microsoft.com/office/powerpoint/2010/main" val="192382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tretch>
            <a:fillRect/>
          </a:stretch>
        </p:blipFill>
        <p:spPr>
          <a:xfrm>
            <a:off x="594804" y="514652"/>
            <a:ext cx="5078027" cy="5522164"/>
          </a:xfrm>
          <a:prstGeom prst="rect">
            <a:avLst/>
          </a:prstGeom>
        </p:spPr>
      </p:pic>
      <p:sp>
        <p:nvSpPr>
          <p:cNvPr id="5" name="Rectangle 4"/>
          <p:cNvSpPr/>
          <p:nvPr/>
        </p:nvSpPr>
        <p:spPr>
          <a:xfrm>
            <a:off x="6400798" y="904134"/>
            <a:ext cx="4216895" cy="4247317"/>
          </a:xfrm>
          <a:prstGeom prst="rect">
            <a:avLst/>
          </a:prstGeom>
        </p:spPr>
        <p:txBody>
          <a:bodyPr wrap="square">
            <a:spAutoFit/>
          </a:bodyPr>
          <a:lstStyle/>
          <a:p>
            <a:r>
              <a:rPr lang="en-US" dirty="0" smtClean="0"/>
              <a:t>Let us look at Fig. 8.23 which shows the algorithm to delete an element from a circular queue. </a:t>
            </a:r>
          </a:p>
          <a:p>
            <a:r>
              <a:rPr lang="en-US" dirty="0" smtClean="0"/>
              <a:t>In Step 1, we check for the underflow condition. </a:t>
            </a:r>
          </a:p>
          <a:p>
            <a:r>
              <a:rPr lang="en-US" dirty="0" smtClean="0"/>
              <a:t>In Step 2, the value of the queue at the location pointed by FRONT is stored in VAL. </a:t>
            </a:r>
          </a:p>
          <a:p>
            <a:endParaRPr lang="en-US" dirty="0" smtClean="0"/>
          </a:p>
          <a:p>
            <a:r>
              <a:rPr lang="en-US" dirty="0" smtClean="0"/>
              <a:t>In Step 3, we make two checks. First to see if the queue has become empty after deletion and second to see if FRONT has reached the maximum capacity of the queue. The value of FRONT</a:t>
            </a:r>
          </a:p>
          <a:p>
            <a:r>
              <a:rPr lang="en-US" dirty="0" smtClean="0"/>
              <a:t>is then updated based on the outcome of these checks.</a:t>
            </a:r>
            <a:endParaRPr lang="en-IN" dirty="0"/>
          </a:p>
        </p:txBody>
      </p:sp>
    </p:spTree>
    <p:extLst>
      <p:ext uri="{BB962C8B-B14F-4D97-AF65-F5344CB8AC3E}">
        <p14:creationId xmlns:p14="http://schemas.microsoft.com/office/powerpoint/2010/main" val="2988505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Assignment 1</a:t>
            </a:r>
          </a:p>
        </p:txBody>
      </p:sp>
      <p:sp>
        <p:nvSpPr>
          <p:cNvPr id="3" name="Content Placeholder 2"/>
          <p:cNvSpPr>
            <a:spLocks noGrp="1"/>
          </p:cNvSpPr>
          <p:nvPr>
            <p:ph idx="1"/>
          </p:nvPr>
        </p:nvSpPr>
        <p:spPr/>
        <p:txBody>
          <a:bodyPr/>
          <a:lstStyle/>
          <a:p>
            <a:r>
              <a:rPr lang="en-US" dirty="0" smtClean="0"/>
              <a:t>Implement:</a:t>
            </a:r>
          </a:p>
          <a:p>
            <a:r>
              <a:rPr lang="en-US" dirty="0" err="1" smtClean="0"/>
              <a:t>Enqueue</a:t>
            </a:r>
            <a:endParaRPr lang="en-US" dirty="0" smtClean="0"/>
          </a:p>
          <a:p>
            <a:r>
              <a:rPr lang="en-US" dirty="0" err="1" smtClean="0"/>
              <a:t>Dequeue</a:t>
            </a:r>
            <a:endParaRPr lang="en-US" dirty="0" smtClean="0"/>
          </a:p>
          <a:p>
            <a:r>
              <a:rPr lang="en-US" dirty="0" smtClean="0"/>
              <a:t>Display</a:t>
            </a:r>
          </a:p>
          <a:p>
            <a:r>
              <a:rPr lang="en-US" dirty="0"/>
              <a:t> </a:t>
            </a:r>
            <a:r>
              <a:rPr lang="en-US" dirty="0" smtClean="0"/>
              <a:t>using </a:t>
            </a:r>
            <a:r>
              <a:rPr lang="en-US" dirty="0"/>
              <a:t>Circular Queue of size </a:t>
            </a:r>
            <a:r>
              <a:rPr lang="en-US" dirty="0" smtClean="0"/>
              <a:t>10.</a:t>
            </a:r>
            <a:endParaRPr lang="en-IN" dirty="0"/>
          </a:p>
        </p:txBody>
      </p:sp>
    </p:spTree>
    <p:extLst>
      <p:ext uri="{BB962C8B-B14F-4D97-AF65-F5344CB8AC3E}">
        <p14:creationId xmlns:p14="http://schemas.microsoft.com/office/powerpoint/2010/main" val="2839996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Assignment 2</a:t>
            </a:r>
            <a:endParaRPr lang="en-IN" dirty="0">
              <a:solidFill>
                <a:srgbClr val="FF0000"/>
              </a:solidFill>
            </a:endParaRPr>
          </a:p>
        </p:txBody>
      </p:sp>
      <p:sp>
        <p:nvSpPr>
          <p:cNvPr id="3" name="Content Placeholder 2"/>
          <p:cNvSpPr>
            <a:spLocks noGrp="1"/>
          </p:cNvSpPr>
          <p:nvPr>
            <p:ph idx="1"/>
          </p:nvPr>
        </p:nvSpPr>
        <p:spPr/>
        <p:txBody>
          <a:bodyPr/>
          <a:lstStyle/>
          <a:p>
            <a:r>
              <a:rPr lang="en-US" dirty="0">
                <a:solidFill>
                  <a:srgbClr val="92D050"/>
                </a:solidFill>
              </a:rPr>
              <a:t>Write a C program to implement a Circular Queue using an array and perform the following operations</a:t>
            </a:r>
            <a:r>
              <a:rPr lang="en-US" dirty="0" smtClean="0">
                <a:solidFill>
                  <a:srgbClr val="92D050"/>
                </a:solidFill>
              </a:rPr>
              <a:t>:</a:t>
            </a:r>
          </a:p>
          <a:p>
            <a:r>
              <a:rPr lang="en-US" dirty="0" smtClean="0">
                <a:solidFill>
                  <a:srgbClr val="92D050"/>
                </a:solidFill>
              </a:rPr>
              <a:t>Insert </a:t>
            </a:r>
            <a:r>
              <a:rPr lang="en-US" dirty="0">
                <a:solidFill>
                  <a:srgbClr val="92D050"/>
                </a:solidFill>
              </a:rPr>
              <a:t>(</a:t>
            </a:r>
            <a:r>
              <a:rPr lang="en-US" dirty="0" err="1">
                <a:solidFill>
                  <a:srgbClr val="92D050"/>
                </a:solidFill>
              </a:rPr>
              <a:t>Enqueue</a:t>
            </a:r>
            <a:r>
              <a:rPr lang="en-US" dirty="0" smtClean="0">
                <a:solidFill>
                  <a:srgbClr val="92D050"/>
                </a:solidFill>
              </a:rPr>
              <a:t>)</a:t>
            </a:r>
          </a:p>
          <a:p>
            <a:r>
              <a:rPr lang="en-US" dirty="0" smtClean="0">
                <a:solidFill>
                  <a:srgbClr val="92D050"/>
                </a:solidFill>
              </a:rPr>
              <a:t>Delete </a:t>
            </a:r>
            <a:r>
              <a:rPr lang="en-US" dirty="0">
                <a:solidFill>
                  <a:srgbClr val="92D050"/>
                </a:solidFill>
              </a:rPr>
              <a:t>(</a:t>
            </a:r>
            <a:r>
              <a:rPr lang="en-US" dirty="0" err="1">
                <a:solidFill>
                  <a:srgbClr val="92D050"/>
                </a:solidFill>
              </a:rPr>
              <a:t>Dequeue</a:t>
            </a:r>
            <a:r>
              <a:rPr lang="en-US" dirty="0" smtClean="0">
                <a:solidFill>
                  <a:srgbClr val="92D050"/>
                </a:solidFill>
              </a:rPr>
              <a:t>)</a:t>
            </a:r>
          </a:p>
          <a:p>
            <a:r>
              <a:rPr lang="en-US" dirty="0" smtClean="0">
                <a:solidFill>
                  <a:srgbClr val="92D050"/>
                </a:solidFill>
              </a:rPr>
              <a:t>Display</a:t>
            </a:r>
          </a:p>
          <a:p>
            <a:r>
              <a:rPr lang="en-US" dirty="0" smtClean="0">
                <a:solidFill>
                  <a:srgbClr val="92D050"/>
                </a:solidFill>
              </a:rPr>
              <a:t>Peek </a:t>
            </a:r>
            <a:r>
              <a:rPr lang="en-US" dirty="0">
                <a:solidFill>
                  <a:srgbClr val="92D050"/>
                </a:solidFill>
              </a:rPr>
              <a:t>(Front Element)</a:t>
            </a:r>
            <a:endParaRPr lang="en-IN" dirty="0">
              <a:solidFill>
                <a:srgbClr val="92D050"/>
              </a:solidFill>
            </a:endParaRPr>
          </a:p>
        </p:txBody>
      </p:sp>
    </p:spTree>
    <p:extLst>
      <p:ext uri="{BB962C8B-B14F-4D97-AF65-F5344CB8AC3E}">
        <p14:creationId xmlns:p14="http://schemas.microsoft.com/office/powerpoint/2010/main" val="3723874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smtClean="0"/>
              <a:t>Perform </a:t>
            </a:r>
            <a:r>
              <a:rPr lang="en-US" dirty="0"/>
              <a:t>the following operations manually and write the values of Front and Rear after each operation</a:t>
            </a:r>
            <a:r>
              <a:rPr lang="en-US" dirty="0" smtClean="0"/>
              <a:t>.</a:t>
            </a:r>
          </a:p>
          <a:p>
            <a:r>
              <a:rPr lang="pt-BR" dirty="0"/>
              <a:t>Enqueue(10)</a:t>
            </a:r>
          </a:p>
          <a:p>
            <a:r>
              <a:rPr lang="pt-BR" dirty="0"/>
              <a:t>Enqueue(20)</a:t>
            </a:r>
          </a:p>
          <a:p>
            <a:r>
              <a:rPr lang="pt-BR" dirty="0"/>
              <a:t>Enqueue(30)</a:t>
            </a:r>
          </a:p>
          <a:p>
            <a:r>
              <a:rPr lang="pt-BR" dirty="0"/>
              <a:t>Dequeue()</a:t>
            </a:r>
          </a:p>
          <a:p>
            <a:r>
              <a:rPr lang="pt-BR" dirty="0"/>
              <a:t>Enqueue(40)</a:t>
            </a:r>
          </a:p>
          <a:p>
            <a:r>
              <a:rPr lang="pt-BR" dirty="0"/>
              <a:t>Enqueue(50)</a:t>
            </a:r>
          </a:p>
          <a:p>
            <a:r>
              <a:rPr lang="pt-BR" dirty="0"/>
              <a:t>Enqueue(60)</a:t>
            </a:r>
            <a:endParaRPr lang="en-IN" dirty="0"/>
          </a:p>
        </p:txBody>
      </p:sp>
    </p:spTree>
    <p:extLst>
      <p:ext uri="{BB962C8B-B14F-4D97-AF65-F5344CB8AC3E}">
        <p14:creationId xmlns:p14="http://schemas.microsoft.com/office/powerpoint/2010/main" val="2094240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nvPr>
        </p:nvGraphicFramePr>
        <p:xfrm>
          <a:off x="838200" y="2355374"/>
          <a:ext cx="10515600" cy="3291840"/>
        </p:xfrm>
        <a:graphic>
          <a:graphicData uri="http://schemas.openxmlformats.org/drawingml/2006/table">
            <a:tbl>
              <a:tblPr/>
              <a:tblGrid>
                <a:gridCol w="3505200">
                  <a:extLst>
                    <a:ext uri="{9D8B030D-6E8A-4147-A177-3AD203B41FA5}">
                      <a16:colId xmlns:a16="http://schemas.microsoft.com/office/drawing/2014/main" val="2683010046"/>
                    </a:ext>
                  </a:extLst>
                </a:gridCol>
                <a:gridCol w="3505200">
                  <a:extLst>
                    <a:ext uri="{9D8B030D-6E8A-4147-A177-3AD203B41FA5}">
                      <a16:colId xmlns:a16="http://schemas.microsoft.com/office/drawing/2014/main" val="1062939066"/>
                    </a:ext>
                  </a:extLst>
                </a:gridCol>
                <a:gridCol w="3505200">
                  <a:extLst>
                    <a:ext uri="{9D8B030D-6E8A-4147-A177-3AD203B41FA5}">
                      <a16:colId xmlns:a16="http://schemas.microsoft.com/office/drawing/2014/main" val="2064713262"/>
                    </a:ext>
                  </a:extLst>
                </a:gridCol>
              </a:tblGrid>
              <a:tr h="0">
                <a:tc>
                  <a:txBody>
                    <a:bodyPr/>
                    <a:lstStyle/>
                    <a:p>
                      <a:r>
                        <a:rPr lang="en-IN"/>
                        <a:t>Operation</a:t>
                      </a:r>
                    </a:p>
                  </a:txBody>
                  <a:tcPr anchor="ctr">
                    <a:lnL>
                      <a:noFill/>
                    </a:lnL>
                    <a:lnR>
                      <a:noFill/>
                    </a:lnR>
                    <a:lnT>
                      <a:noFill/>
                    </a:lnT>
                    <a:lnB>
                      <a:noFill/>
                    </a:lnB>
                  </a:tcPr>
                </a:tc>
                <a:tc>
                  <a:txBody>
                    <a:bodyPr/>
                    <a:lstStyle/>
                    <a:p>
                      <a:r>
                        <a:rPr lang="en-IN"/>
                        <a:t>Front</a:t>
                      </a:r>
                    </a:p>
                  </a:txBody>
                  <a:tcPr anchor="ctr">
                    <a:lnL>
                      <a:noFill/>
                    </a:lnL>
                    <a:lnR>
                      <a:noFill/>
                    </a:lnR>
                    <a:lnT>
                      <a:noFill/>
                    </a:lnT>
                    <a:lnB>
                      <a:noFill/>
                    </a:lnB>
                  </a:tcPr>
                </a:tc>
                <a:tc>
                  <a:txBody>
                    <a:bodyPr/>
                    <a:lstStyle/>
                    <a:p>
                      <a:r>
                        <a:rPr lang="en-IN"/>
                        <a:t>Rear</a:t>
                      </a:r>
                    </a:p>
                  </a:txBody>
                  <a:tcPr anchor="ctr">
                    <a:lnL>
                      <a:noFill/>
                    </a:lnL>
                    <a:lnR>
                      <a:noFill/>
                    </a:lnR>
                    <a:lnT>
                      <a:noFill/>
                    </a:lnT>
                    <a:lnB>
                      <a:noFill/>
                    </a:lnB>
                  </a:tcPr>
                </a:tc>
                <a:extLst>
                  <a:ext uri="{0D108BD9-81ED-4DB2-BD59-A6C34878D82A}">
                    <a16:rowId xmlns:a16="http://schemas.microsoft.com/office/drawing/2014/main" val="899895292"/>
                  </a:ext>
                </a:extLst>
              </a:tr>
              <a:tr h="0">
                <a:tc>
                  <a:txBody>
                    <a:bodyPr/>
                    <a:lstStyle/>
                    <a:p>
                      <a:r>
                        <a:rPr lang="en-IN"/>
                        <a:t>Initial</a:t>
                      </a:r>
                    </a:p>
                  </a:txBody>
                  <a:tcPr anchor="ctr">
                    <a:lnL>
                      <a:noFill/>
                    </a:lnL>
                    <a:lnR>
                      <a:noFill/>
                    </a:lnR>
                    <a:lnT>
                      <a:noFill/>
                    </a:lnT>
                    <a:lnB>
                      <a:noFill/>
                    </a:lnB>
                  </a:tcPr>
                </a:tc>
                <a:tc>
                  <a:txBody>
                    <a:bodyPr/>
                    <a:lstStyle/>
                    <a:p>
                      <a:r>
                        <a:rPr lang="en-IN"/>
                        <a:t>-1</a:t>
                      </a:r>
                    </a:p>
                  </a:txBody>
                  <a:tcPr anchor="ctr">
                    <a:lnL>
                      <a:noFill/>
                    </a:lnL>
                    <a:lnR>
                      <a:noFill/>
                    </a:lnR>
                    <a:lnT>
                      <a:noFill/>
                    </a:lnT>
                    <a:lnB>
                      <a:noFill/>
                    </a:lnB>
                  </a:tcPr>
                </a:tc>
                <a:tc>
                  <a:txBody>
                    <a:bodyPr/>
                    <a:lstStyle/>
                    <a:p>
                      <a:r>
                        <a:rPr lang="en-IN" dirty="0"/>
                        <a:t>-1</a:t>
                      </a:r>
                    </a:p>
                  </a:txBody>
                  <a:tcPr anchor="ctr">
                    <a:lnL>
                      <a:noFill/>
                    </a:lnL>
                    <a:lnR>
                      <a:noFill/>
                    </a:lnR>
                    <a:lnT>
                      <a:noFill/>
                    </a:lnT>
                    <a:lnB>
                      <a:noFill/>
                    </a:lnB>
                  </a:tcPr>
                </a:tc>
                <a:extLst>
                  <a:ext uri="{0D108BD9-81ED-4DB2-BD59-A6C34878D82A}">
                    <a16:rowId xmlns:a16="http://schemas.microsoft.com/office/drawing/2014/main" val="625706305"/>
                  </a:ext>
                </a:extLst>
              </a:tr>
              <a:tr h="0">
                <a:tc>
                  <a:txBody>
                    <a:bodyPr/>
                    <a:lstStyle/>
                    <a:p>
                      <a:r>
                        <a:rPr lang="en-IN"/>
                        <a:t>Enqueue(10)</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extLst>
                  <a:ext uri="{0D108BD9-81ED-4DB2-BD59-A6C34878D82A}">
                    <a16:rowId xmlns:a16="http://schemas.microsoft.com/office/drawing/2014/main" val="641027759"/>
                  </a:ext>
                </a:extLst>
              </a:tr>
              <a:tr h="0">
                <a:tc>
                  <a:txBody>
                    <a:bodyPr/>
                    <a:lstStyle/>
                    <a:p>
                      <a:r>
                        <a:rPr lang="en-IN"/>
                        <a:t>Enqueue(20)</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extLst>
                  <a:ext uri="{0D108BD9-81ED-4DB2-BD59-A6C34878D82A}">
                    <a16:rowId xmlns:a16="http://schemas.microsoft.com/office/drawing/2014/main" val="1770692879"/>
                  </a:ext>
                </a:extLst>
              </a:tr>
              <a:tr h="0">
                <a:tc>
                  <a:txBody>
                    <a:bodyPr/>
                    <a:lstStyle/>
                    <a:p>
                      <a:r>
                        <a:rPr lang="en-IN"/>
                        <a:t>Enqueue(30)</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extLst>
                  <a:ext uri="{0D108BD9-81ED-4DB2-BD59-A6C34878D82A}">
                    <a16:rowId xmlns:a16="http://schemas.microsoft.com/office/drawing/2014/main" val="245499419"/>
                  </a:ext>
                </a:extLst>
              </a:tr>
              <a:tr h="0">
                <a:tc>
                  <a:txBody>
                    <a:bodyPr/>
                    <a:lstStyle/>
                    <a:p>
                      <a:r>
                        <a:rPr lang="en-IN"/>
                        <a:t>Dequeue()</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extLst>
                  <a:ext uri="{0D108BD9-81ED-4DB2-BD59-A6C34878D82A}">
                    <a16:rowId xmlns:a16="http://schemas.microsoft.com/office/drawing/2014/main" val="2658129303"/>
                  </a:ext>
                </a:extLst>
              </a:tr>
              <a:tr h="0">
                <a:tc>
                  <a:txBody>
                    <a:bodyPr/>
                    <a:lstStyle/>
                    <a:p>
                      <a:r>
                        <a:rPr lang="en-IN" dirty="0" err="1"/>
                        <a:t>Enqueue</a:t>
                      </a:r>
                      <a:r>
                        <a:rPr lang="en-IN"/>
                        <a:t>(40)</a:t>
                      </a:r>
                    </a:p>
                  </a:txBody>
                  <a:tcPr anchor="ctr">
                    <a:lnL>
                      <a:noFill/>
                    </a:lnL>
                    <a:lnR>
                      <a:noFill/>
                    </a:lnR>
                    <a:lnT>
                      <a:noFill/>
                    </a:lnT>
                    <a:lnB>
                      <a:noFill/>
                    </a:lnB>
                  </a:tcPr>
                </a:tc>
                <a:tc>
                  <a:txBody>
                    <a:bodyPr/>
                    <a:lstStyle/>
                    <a:p>
                      <a:r>
                        <a:rPr lang="en-IN" dirty="0"/>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extLst>
                  <a:ext uri="{0D108BD9-81ED-4DB2-BD59-A6C34878D82A}">
                    <a16:rowId xmlns:a16="http://schemas.microsoft.com/office/drawing/2014/main" val="426154001"/>
                  </a:ext>
                </a:extLst>
              </a:tr>
              <a:tr h="0">
                <a:tc>
                  <a:txBody>
                    <a:bodyPr/>
                    <a:lstStyle/>
                    <a:p>
                      <a:r>
                        <a:rPr lang="en-IN"/>
                        <a:t>Enqueue(50)</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extLst>
                  <a:ext uri="{0D108BD9-81ED-4DB2-BD59-A6C34878D82A}">
                    <a16:rowId xmlns:a16="http://schemas.microsoft.com/office/drawing/2014/main" val="2136651479"/>
                  </a:ext>
                </a:extLst>
              </a:tr>
              <a:tr h="0">
                <a:tc>
                  <a:txBody>
                    <a:bodyPr/>
                    <a:lstStyle/>
                    <a:p>
                      <a:r>
                        <a:rPr lang="en-IN"/>
                        <a:t>Enqueue(60)</a:t>
                      </a:r>
                    </a:p>
                  </a:txBody>
                  <a:tcPr anchor="ctr">
                    <a:lnL>
                      <a:noFill/>
                    </a:lnL>
                    <a:lnR>
                      <a:noFill/>
                    </a:lnR>
                    <a:lnT>
                      <a:noFill/>
                    </a:lnT>
                    <a:lnB>
                      <a:noFill/>
                    </a:lnB>
                  </a:tcPr>
                </a:tc>
                <a:tc>
                  <a:txBody>
                    <a:bodyPr/>
                    <a:lstStyle/>
                    <a:p>
                      <a:r>
                        <a:rPr lang="en-IN"/>
                        <a:t>?</a:t>
                      </a:r>
                    </a:p>
                  </a:txBody>
                  <a:tcPr anchor="ctr">
                    <a:lnL>
                      <a:noFill/>
                    </a:lnL>
                    <a:lnR>
                      <a:noFill/>
                    </a:lnR>
                    <a:lnT>
                      <a:noFill/>
                    </a:lnT>
                    <a:lnB>
                      <a:noFill/>
                    </a:lnB>
                  </a:tcPr>
                </a:tc>
                <a:tc>
                  <a:txBody>
                    <a:bodyPr/>
                    <a:lstStyle/>
                    <a:p>
                      <a:r>
                        <a:rPr lang="en-IN" dirty="0"/>
                        <a:t>?</a:t>
                      </a:r>
                    </a:p>
                  </a:txBody>
                  <a:tcPr anchor="ctr">
                    <a:lnL>
                      <a:noFill/>
                    </a:lnL>
                    <a:lnR>
                      <a:noFill/>
                    </a:lnR>
                    <a:lnT>
                      <a:noFill/>
                    </a:lnT>
                    <a:lnB>
                      <a:noFill/>
                    </a:lnB>
                  </a:tcPr>
                </a:tc>
                <a:extLst>
                  <a:ext uri="{0D108BD9-81ED-4DB2-BD59-A6C34878D82A}">
                    <a16:rowId xmlns:a16="http://schemas.microsoft.com/office/drawing/2014/main" val="534877699"/>
                  </a:ext>
                </a:extLst>
              </a:tr>
            </a:tbl>
          </a:graphicData>
        </a:graphic>
      </p:graphicFrame>
    </p:spTree>
    <p:extLst>
      <p:ext uri="{BB962C8B-B14F-4D97-AF65-F5344CB8AC3E}">
        <p14:creationId xmlns:p14="http://schemas.microsoft.com/office/powerpoint/2010/main" val="2135978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Assignment 3</a:t>
            </a:r>
            <a:endParaRPr lang="en-IN" dirty="0">
              <a:solidFill>
                <a:srgbClr val="FF0000"/>
              </a:solidFill>
            </a:endParaRPr>
          </a:p>
        </p:txBody>
      </p:sp>
      <p:sp>
        <p:nvSpPr>
          <p:cNvPr id="3" name="Content Placeholder 2"/>
          <p:cNvSpPr>
            <a:spLocks noGrp="1"/>
          </p:cNvSpPr>
          <p:nvPr>
            <p:ph idx="1"/>
          </p:nvPr>
        </p:nvSpPr>
        <p:spPr>
          <a:xfrm>
            <a:off x="838200" y="1690688"/>
            <a:ext cx="10515600" cy="4486275"/>
          </a:xfrm>
        </p:spPr>
        <p:txBody>
          <a:bodyPr>
            <a:normAutofit fontScale="55000" lnSpcReduction="20000"/>
          </a:bodyPr>
          <a:lstStyle/>
          <a:p>
            <a:r>
              <a:rPr lang="en-IN" dirty="0"/>
              <a:t>Assume Circular Queue size = 5</a:t>
            </a:r>
            <a:r>
              <a:rPr lang="en-IN" dirty="0" smtClean="0"/>
              <a:t>.</a:t>
            </a:r>
          </a:p>
          <a:p>
            <a:r>
              <a:rPr lang="en-IN" dirty="0" smtClean="0"/>
              <a:t>Perform:</a:t>
            </a:r>
          </a:p>
          <a:p>
            <a:r>
              <a:rPr lang="pt-BR" dirty="0"/>
              <a:t>Enqueue(11)</a:t>
            </a:r>
          </a:p>
          <a:p>
            <a:r>
              <a:rPr lang="pt-BR" dirty="0"/>
              <a:t>Enqueue(22)</a:t>
            </a:r>
          </a:p>
          <a:p>
            <a:r>
              <a:rPr lang="pt-BR" dirty="0"/>
              <a:t>Enqueue(33)</a:t>
            </a:r>
          </a:p>
          <a:p>
            <a:r>
              <a:rPr lang="pt-BR" dirty="0"/>
              <a:t>Enqueue(44)</a:t>
            </a:r>
          </a:p>
          <a:p>
            <a:r>
              <a:rPr lang="pt-BR" dirty="0"/>
              <a:t>Enqueue(55)</a:t>
            </a:r>
          </a:p>
          <a:p>
            <a:r>
              <a:rPr lang="pt-BR" dirty="0"/>
              <a:t>Dequeue()</a:t>
            </a:r>
          </a:p>
          <a:p>
            <a:r>
              <a:rPr lang="pt-BR" dirty="0"/>
              <a:t>Dequeue()</a:t>
            </a:r>
          </a:p>
          <a:p>
            <a:r>
              <a:rPr lang="pt-BR" dirty="0"/>
              <a:t>Enqueue(66)</a:t>
            </a:r>
          </a:p>
          <a:p>
            <a:r>
              <a:rPr lang="pt-BR" dirty="0"/>
              <a:t>Enqueue(77)</a:t>
            </a:r>
          </a:p>
          <a:p>
            <a:r>
              <a:rPr lang="pt-BR" dirty="0"/>
              <a:t>Display</a:t>
            </a:r>
            <a:r>
              <a:rPr lang="pt-BR" dirty="0" smtClean="0"/>
              <a:t>() </a:t>
            </a:r>
          </a:p>
          <a:p>
            <a:r>
              <a:rPr lang="en-US" dirty="0" smtClean="0"/>
              <a:t>What </a:t>
            </a:r>
            <a:r>
              <a:rPr lang="en-US" dirty="0"/>
              <a:t>will be the final queue contents</a:t>
            </a:r>
            <a:r>
              <a:rPr lang="en-US" dirty="0" smtClean="0"/>
              <a:t>?</a:t>
            </a:r>
          </a:p>
          <a:p>
            <a:r>
              <a:rPr lang="en-US" dirty="0" smtClean="0"/>
              <a:t>What </a:t>
            </a:r>
            <a:r>
              <a:rPr lang="en-US" dirty="0"/>
              <a:t>are the values of Front and Rear</a:t>
            </a:r>
            <a:r>
              <a:rPr lang="en-US" dirty="0" smtClean="0"/>
              <a:t>?</a:t>
            </a:r>
          </a:p>
          <a:p>
            <a:r>
              <a:rPr lang="en-US" dirty="0" smtClean="0"/>
              <a:t>Explain </a:t>
            </a:r>
            <a:r>
              <a:rPr lang="en-US" dirty="0"/>
              <a:t>how wrapping takes place.</a:t>
            </a:r>
            <a:endParaRPr lang="pt-BR" dirty="0" smtClean="0"/>
          </a:p>
          <a:p>
            <a:endParaRPr lang="pt-BR" dirty="0"/>
          </a:p>
          <a:p>
            <a:endParaRPr lang="pt-BR" dirty="0" smtClean="0"/>
          </a:p>
          <a:p>
            <a:endParaRPr lang="pt-BR" dirty="0"/>
          </a:p>
          <a:p>
            <a:endParaRPr lang="en-IN" dirty="0"/>
          </a:p>
        </p:txBody>
      </p:sp>
    </p:spTree>
    <p:extLst>
      <p:ext uri="{BB962C8B-B14F-4D97-AF65-F5344CB8AC3E}">
        <p14:creationId xmlns:p14="http://schemas.microsoft.com/office/powerpoint/2010/main" val="962497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Assignment 4</a:t>
            </a:r>
            <a:endParaRPr lang="en-IN" dirty="0">
              <a:solidFill>
                <a:srgbClr val="FF0000"/>
              </a:solidFill>
            </a:endParaRPr>
          </a:p>
        </p:txBody>
      </p:sp>
      <p:sp>
        <p:nvSpPr>
          <p:cNvPr id="3" name="Content Placeholder 2"/>
          <p:cNvSpPr>
            <a:spLocks noGrp="1"/>
          </p:cNvSpPr>
          <p:nvPr>
            <p:ph idx="1"/>
          </p:nvPr>
        </p:nvSpPr>
        <p:spPr/>
        <p:txBody>
          <a:bodyPr>
            <a:normAutofit fontScale="55000" lnSpcReduction="20000"/>
          </a:bodyPr>
          <a:lstStyle/>
          <a:p>
            <a:r>
              <a:rPr lang="en-IN" dirty="0"/>
              <a:t>A circular queue of size 6 </a:t>
            </a:r>
            <a:r>
              <a:rPr lang="en-IN" dirty="0" smtClean="0"/>
              <a:t>contains:</a:t>
            </a:r>
          </a:p>
          <a:p>
            <a:r>
              <a:rPr lang="en-IN" dirty="0" smtClean="0"/>
              <a:t>10</a:t>
            </a:r>
            <a:r>
              <a:rPr lang="en-IN" dirty="0"/>
              <a:t>, 20, 30, </a:t>
            </a:r>
            <a:r>
              <a:rPr lang="en-IN" dirty="0" smtClean="0"/>
              <a:t>40</a:t>
            </a:r>
          </a:p>
          <a:p>
            <a:r>
              <a:rPr lang="en-IN" dirty="0" smtClean="0"/>
              <a:t>Front </a:t>
            </a:r>
            <a:r>
              <a:rPr lang="en-IN" dirty="0"/>
              <a:t>= </a:t>
            </a:r>
            <a:r>
              <a:rPr lang="en-IN" dirty="0" smtClean="0"/>
              <a:t>0</a:t>
            </a:r>
          </a:p>
          <a:p>
            <a:r>
              <a:rPr lang="en-IN" dirty="0" smtClean="0"/>
              <a:t>Rear </a:t>
            </a:r>
            <a:r>
              <a:rPr lang="en-IN" dirty="0"/>
              <a:t>= </a:t>
            </a:r>
            <a:r>
              <a:rPr lang="en-IN" dirty="0" smtClean="0"/>
              <a:t>3</a:t>
            </a:r>
          </a:p>
          <a:p>
            <a:r>
              <a:rPr lang="en-IN" dirty="0" smtClean="0"/>
              <a:t>Perform:</a:t>
            </a:r>
          </a:p>
          <a:p>
            <a:r>
              <a:rPr lang="en-IN" dirty="0" err="1" smtClean="0"/>
              <a:t>Dequeue</a:t>
            </a:r>
            <a:r>
              <a:rPr lang="en-IN" dirty="0" smtClean="0"/>
              <a:t>()</a:t>
            </a:r>
          </a:p>
          <a:p>
            <a:r>
              <a:rPr lang="en-IN" dirty="0" err="1" smtClean="0"/>
              <a:t>Dequeue</a:t>
            </a:r>
            <a:r>
              <a:rPr lang="en-IN" dirty="0" smtClean="0"/>
              <a:t>()</a:t>
            </a:r>
          </a:p>
          <a:p>
            <a:r>
              <a:rPr lang="en-IN" dirty="0" err="1" smtClean="0"/>
              <a:t>Enqueue</a:t>
            </a:r>
            <a:r>
              <a:rPr lang="en-IN" dirty="0" smtClean="0"/>
              <a:t>(50)</a:t>
            </a:r>
          </a:p>
          <a:p>
            <a:r>
              <a:rPr lang="en-IN" dirty="0" err="1" smtClean="0"/>
              <a:t>Enqueue</a:t>
            </a:r>
            <a:r>
              <a:rPr lang="en-IN" dirty="0" smtClean="0"/>
              <a:t>(60)</a:t>
            </a:r>
          </a:p>
          <a:p>
            <a:r>
              <a:rPr lang="en-IN" dirty="0" err="1" smtClean="0"/>
              <a:t>Enqueue</a:t>
            </a:r>
            <a:r>
              <a:rPr lang="en-IN" dirty="0" smtClean="0"/>
              <a:t>(70)</a:t>
            </a:r>
          </a:p>
          <a:p>
            <a:r>
              <a:rPr lang="en-IN" dirty="0" smtClean="0"/>
              <a:t>Draw </a:t>
            </a:r>
            <a:r>
              <a:rPr lang="en-IN" dirty="0"/>
              <a:t>the final queue and determine</a:t>
            </a:r>
            <a:r>
              <a:rPr lang="en-IN" dirty="0" smtClean="0"/>
              <a:t>:</a:t>
            </a:r>
          </a:p>
          <a:p>
            <a:r>
              <a:rPr lang="en-IN" dirty="0" smtClean="0"/>
              <a:t>Front value</a:t>
            </a:r>
          </a:p>
          <a:p>
            <a:r>
              <a:rPr lang="en-IN" dirty="0" smtClean="0"/>
              <a:t>Rear value</a:t>
            </a:r>
          </a:p>
          <a:p>
            <a:r>
              <a:rPr lang="en-IN" dirty="0" smtClean="0"/>
              <a:t>Queue </a:t>
            </a:r>
            <a:r>
              <a:rPr lang="en-IN" dirty="0"/>
              <a:t>elements in proper order</a:t>
            </a:r>
          </a:p>
        </p:txBody>
      </p:sp>
    </p:spTree>
    <p:extLst>
      <p:ext uri="{BB962C8B-B14F-4D97-AF65-F5344CB8AC3E}">
        <p14:creationId xmlns:p14="http://schemas.microsoft.com/office/powerpoint/2010/main" val="1991312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180589C6A3734FB015398CF992E20C" ma:contentTypeVersion="3" ma:contentTypeDescription="Create a new document." ma:contentTypeScope="" ma:versionID="f42c56c913744275b69abae0234ee692">
  <xsd:schema xmlns:xsd="http://www.w3.org/2001/XMLSchema" xmlns:xs="http://www.w3.org/2001/XMLSchema" xmlns:p="http://schemas.microsoft.com/office/2006/metadata/properties" xmlns:ns2="2b5b690c-0466-4b1f-b300-1002397e505c" targetNamespace="http://schemas.microsoft.com/office/2006/metadata/properties" ma:root="true" ma:fieldsID="672d450a32ac80e4b0846843afa1e5cb" ns2:_="">
    <xsd:import namespace="2b5b690c-0466-4b1f-b300-1002397e505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5b690c-0466-4b1f-b300-1002397e50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9BCA998-1B50-4B5D-8979-1A3067553E81}"/>
</file>

<file path=customXml/itemProps2.xml><?xml version="1.0" encoding="utf-8"?>
<ds:datastoreItem xmlns:ds="http://schemas.openxmlformats.org/officeDocument/2006/customXml" ds:itemID="{4C000A2B-C6F5-4AD9-A9CB-41F0D1BA7A90}"/>
</file>

<file path=customXml/itemProps3.xml><?xml version="1.0" encoding="utf-8"?>
<ds:datastoreItem xmlns:ds="http://schemas.openxmlformats.org/officeDocument/2006/customXml" ds:itemID="{1F38B91E-0EF9-4D03-A794-942C3889A7E7}"/>
</file>

<file path=docProps/app.xml><?xml version="1.0" encoding="utf-8"?>
<Properties xmlns="http://schemas.openxmlformats.org/officeDocument/2006/extended-properties" xmlns:vt="http://schemas.openxmlformats.org/officeDocument/2006/docPropsVTypes">
  <TotalTime>29</TotalTime>
  <Words>1045</Words>
  <Application>Microsoft Office PowerPoint</Application>
  <PresentationFormat>Widescreen</PresentationFormat>
  <Paragraphs>132</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Exp 6  </vt:lpstr>
      <vt:lpstr>Theory: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Procedure:</vt:lpstr>
      <vt:lpstr>PowerPoint Presentation</vt:lpstr>
      <vt:lpstr>PowerPoint Presentation</vt:lpstr>
      <vt:lpstr>Assignment 1</vt:lpstr>
      <vt:lpstr>Assignment 2</vt:lpstr>
      <vt:lpstr>PowerPoint Presentation</vt:lpstr>
      <vt:lpstr>PowerPoint Presentation</vt:lpstr>
      <vt:lpstr>Assignment 3</vt:lpstr>
      <vt:lpstr>Assignment 4</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 6  </dc:title>
  <dc:creator>Geetha Unnikrishnan</dc:creator>
  <cp:lastModifiedBy>Geetha Unnikrishnan</cp:lastModifiedBy>
  <cp:revision>24</cp:revision>
  <dcterms:created xsi:type="dcterms:W3CDTF">2026-08-03T06:58:08Z</dcterms:created>
  <dcterms:modified xsi:type="dcterms:W3CDTF">2026-08-03T07:45:53Z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0x01010042180589C6A3734FB015398CF992E20C</vt:lpwstr>
  </property>
</Properties>
</file>